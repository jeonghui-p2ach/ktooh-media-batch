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9939338" cy="143684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9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F46B5-67C1-B080-C972-7D170A59C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2409B6-F8C1-3618-3B39-A167BFCE7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E652D5-F773-863E-73EA-EF90579AA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602003-07C1-F382-B4C5-D10CE9CD2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F5811A-969B-AF51-9A0D-D8A760AF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06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6D878-42BB-A3D9-E055-3FB5F8D0B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D4837A-702C-47F5-9A34-F894F0936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53C5FB-0C5E-0B9F-FCA5-6EC902B9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F6957-31FC-B5BD-D94E-8A8B8276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9AE1DD-1F17-1B90-01C3-7179AC57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01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536D1-D1E0-72DB-981B-4E462D84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90D5B7-2A26-3D81-2262-EB535D7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0D8AF0-526F-D08D-D0F8-699BEC0C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C1198B-B3BA-7F8D-87FA-A6E0EB048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D0AE9-CB41-5C3C-8A1F-B2DA466F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614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43A4E-6118-2185-F911-3D7D4725A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6DF073-B357-469A-BE27-88357E0FF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A389C4-67D5-C98F-D830-1B72F61E6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4FB857-E3FE-1EE8-B08B-FA042829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7D65C8-E7CA-F0D0-26D5-B97E2C7C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890A05-FF52-0C31-F2CA-5BA82B5E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21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26A19-9EC3-576A-3874-0D833C45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5FE3D4-646C-3039-9F50-B803541EF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E72E48-829A-1966-D819-6EE0A33FC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877AF7-8E84-3E85-0D52-89974CBA8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2842AB-BE2E-A163-B9F0-A2101043A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F0846C0-5064-F89C-FF33-056523310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0FEA9B-7350-8E55-F42D-16B518AD3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D48060-FFEF-4FF5-8CA1-76A0C81F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0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B1F7B-7ACE-1692-8F49-0EE88A54B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DEC56E-7A80-3AA7-5CC3-EFFCD608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F89896-B42C-5A7A-ACD9-428F4BBF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9C8225-4164-AD01-5787-A9072332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739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22FA7B8-1B1B-5579-1A61-9E9B3943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228263-4DFE-0D13-422A-DCF2E92C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4433CE-7010-CF70-B625-A83E15B6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96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D68A1-C050-8B05-C8FF-CB8346A4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7CDBD6-34C3-9742-8FC4-D29C3A0ED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0337E7-BA1B-80DB-60C8-ED19096FB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993563-95C2-CAEF-15F7-93710D93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0EF2AB-2E3D-6B21-ECDA-138DE59E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838162-9DDD-5632-3463-2D593779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44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C505A-9ADF-55EB-FBA2-D53055E7E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731A17A-EE87-FBA1-B54F-617FD9846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EC7A63-BB4E-98D7-71D6-F5608C7B0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6BA26-2B8F-AD07-E23F-6A5366531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D34BEF-8717-D5B7-0277-4678F197D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ABF89B-BE6C-930E-5FA5-0D92D490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91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69CF60-B54D-8EA8-8871-886F659A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93A6E1-9EB2-ECE0-A26F-E21203354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2409D6-D8F5-2D73-6819-A175CEE3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1DEC1-659A-6C27-068F-CAB38F96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A66D7-F131-D8D4-3D2A-27F55D58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86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6B21C5-CE47-AE3B-880E-46AF6D74F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73E131-540C-78FC-2002-68BCC1D1A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8B4CCA-735D-9203-3F09-56E8D5F94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63DF1C-A5BA-8175-53BB-88232C9CF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16D80D-EE93-EDDE-25E8-CFD2CA7EA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619F4DB-098C-F2DE-0F65-F5911A21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53F96-601C-17EF-589C-06E207A6E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E46B1E-F4D3-A3A7-B0AC-15E80349C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F4D1D-1B7B-49E4-A5B8-617F7B22F46F}" type="datetimeFigureOut">
              <a:rPr lang="ko-KR" altLang="en-US" smtClean="0"/>
              <a:t>2026-04-14 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FAFC70-3AC1-DCE4-325F-F375E4452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CC6D41-DD90-94FB-0945-338FF30AD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BDEEC-18D2-43F3-BE08-A1B6FDD71A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4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5F2A41-20C6-876C-46FF-5D235B0DB392}"/>
              </a:ext>
            </a:extLst>
          </p:cNvPr>
          <p:cNvSpPr txBox="1"/>
          <p:nvPr/>
        </p:nvSpPr>
        <p:spPr>
          <a:xfrm>
            <a:off x="91766" y="95250"/>
            <a:ext cx="160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홈 대시보드</a:t>
            </a:r>
            <a:r>
              <a:rPr lang="en-US" altLang="ko-KR" dirty="0"/>
              <a:t>]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243117B-E541-0FE9-8008-1D5DA173EB78}"/>
              </a:ext>
            </a:extLst>
          </p:cNvPr>
          <p:cNvGrpSpPr/>
          <p:nvPr/>
        </p:nvGrpSpPr>
        <p:grpSpPr>
          <a:xfrm>
            <a:off x="91766" y="464582"/>
            <a:ext cx="12008467" cy="5931205"/>
            <a:chOff x="91766" y="464582"/>
            <a:chExt cx="12008467" cy="593120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32C7D77-2AFB-0D69-C4B0-8363A68B6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766" y="464582"/>
              <a:ext cx="12008467" cy="5931205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835252A-FFE4-8854-2626-75C685473BDC}"/>
                </a:ext>
              </a:extLst>
            </p:cNvPr>
            <p:cNvSpPr/>
            <p:nvPr/>
          </p:nvSpPr>
          <p:spPr>
            <a:xfrm>
              <a:off x="3962399" y="4618182"/>
              <a:ext cx="2604649" cy="1597891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570B2DC-AEC8-9341-CA4B-B05CCCF4AFAF}"/>
                </a:ext>
              </a:extLst>
            </p:cNvPr>
            <p:cNvSpPr/>
            <p:nvPr/>
          </p:nvSpPr>
          <p:spPr>
            <a:xfrm>
              <a:off x="6642099" y="4618182"/>
              <a:ext cx="2604649" cy="1597891"/>
            </a:xfrm>
            <a:prstGeom prst="rect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22C2B97F-F4AD-C4F6-7F0B-82009398D24F}"/>
              </a:ext>
            </a:extLst>
          </p:cNvPr>
          <p:cNvCxnSpPr>
            <a:cxnSpLocks/>
          </p:cNvCxnSpPr>
          <p:nvPr/>
        </p:nvCxnSpPr>
        <p:spPr>
          <a:xfrm flipV="1">
            <a:off x="4108971" y="4673023"/>
            <a:ext cx="0" cy="1448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B7AA8B3-F35D-8605-C93F-551085FD3560}"/>
              </a:ext>
            </a:extLst>
          </p:cNvPr>
          <p:cNvCxnSpPr>
            <a:cxnSpLocks/>
          </p:cNvCxnSpPr>
          <p:nvPr/>
        </p:nvCxnSpPr>
        <p:spPr>
          <a:xfrm>
            <a:off x="4108970" y="6126115"/>
            <a:ext cx="2366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3EF1191-A720-A3D8-F7D8-63B1CBCBE962}"/>
              </a:ext>
            </a:extLst>
          </p:cNvPr>
          <p:cNvCxnSpPr>
            <a:cxnSpLocks/>
          </p:cNvCxnSpPr>
          <p:nvPr/>
        </p:nvCxnSpPr>
        <p:spPr>
          <a:xfrm flipV="1">
            <a:off x="6783591" y="4673023"/>
            <a:ext cx="0" cy="1448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246DF39-1D90-B813-5A66-D20599077260}"/>
              </a:ext>
            </a:extLst>
          </p:cNvPr>
          <p:cNvCxnSpPr>
            <a:cxnSpLocks/>
          </p:cNvCxnSpPr>
          <p:nvPr/>
        </p:nvCxnSpPr>
        <p:spPr>
          <a:xfrm>
            <a:off x="6783590" y="6126115"/>
            <a:ext cx="2366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2202643-35CF-C17B-4556-22838F8A8474}"/>
              </a:ext>
            </a:extLst>
          </p:cNvPr>
          <p:cNvSpPr/>
          <p:nvPr/>
        </p:nvSpPr>
        <p:spPr>
          <a:xfrm>
            <a:off x="4029074" y="4325277"/>
            <a:ext cx="690563" cy="1769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/>
              <a:t>일자별 인구 </a:t>
            </a:r>
            <a:r>
              <a:rPr lang="ko-KR" altLang="en-US" sz="500" b="1" dirty="0"/>
              <a:t>지표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EC77903-CAED-B6CC-994D-72529083C77F}"/>
              </a:ext>
            </a:extLst>
          </p:cNvPr>
          <p:cNvSpPr/>
          <p:nvPr/>
        </p:nvSpPr>
        <p:spPr>
          <a:xfrm>
            <a:off x="6715124" y="4325277"/>
            <a:ext cx="690563" cy="1769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/>
              <a:t>일자별 인구 지표</a:t>
            </a:r>
          </a:p>
        </p:txBody>
      </p:sp>
      <p:sp>
        <p:nvSpPr>
          <p:cNvPr id="20" name="설명선: 선 19">
            <a:extLst>
              <a:ext uri="{FF2B5EF4-FFF2-40B4-BE49-F238E27FC236}">
                <a16:creationId xmlns:a16="http://schemas.microsoft.com/office/drawing/2014/main" id="{0C2B3480-8E25-0CCB-EA0A-334EC5AD9465}"/>
              </a:ext>
            </a:extLst>
          </p:cNvPr>
          <p:cNvSpPr/>
          <p:nvPr/>
        </p:nvSpPr>
        <p:spPr>
          <a:xfrm>
            <a:off x="5386435" y="6910246"/>
            <a:ext cx="4462375" cy="576600"/>
          </a:xfrm>
          <a:prstGeom prst="borderCallout1">
            <a:avLst>
              <a:gd name="adj1" fmla="val 18750"/>
              <a:gd name="adj2" fmla="val -8333"/>
              <a:gd name="adj3" fmla="val -408395"/>
              <a:gd name="adj4" fmla="val -1904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기존의 차량분석</a:t>
            </a:r>
            <a:r>
              <a:rPr lang="en-US" altLang="ko-KR" dirty="0"/>
              <a:t>/ </a:t>
            </a:r>
            <a:r>
              <a:rPr lang="ko-KR" altLang="en-US" dirty="0"/>
              <a:t>미디어 위치 박스 대체</a:t>
            </a:r>
            <a:endParaRPr lang="en-US" altLang="ko-KR" dirty="0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D7EA6AA1-CBA9-4318-F498-23AFD928651D}"/>
              </a:ext>
            </a:extLst>
          </p:cNvPr>
          <p:cNvSpPr/>
          <p:nvPr/>
        </p:nvSpPr>
        <p:spPr>
          <a:xfrm>
            <a:off x="4176713" y="4795838"/>
            <a:ext cx="2200275" cy="1266825"/>
          </a:xfrm>
          <a:custGeom>
            <a:avLst/>
            <a:gdLst>
              <a:gd name="connsiteX0" fmla="*/ 0 w 2200275"/>
              <a:gd name="connsiteY0" fmla="*/ 1266825 h 1266825"/>
              <a:gd name="connsiteX1" fmla="*/ 885825 w 2200275"/>
              <a:gd name="connsiteY1" fmla="*/ 238125 h 1266825"/>
              <a:gd name="connsiteX2" fmla="*/ 2200275 w 2200275"/>
              <a:gd name="connsiteY2" fmla="*/ 0 h 126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0275" h="1266825">
                <a:moveTo>
                  <a:pt x="0" y="1266825"/>
                </a:moveTo>
                <a:cubicBezTo>
                  <a:pt x="259556" y="858043"/>
                  <a:pt x="519113" y="449262"/>
                  <a:pt x="885825" y="238125"/>
                </a:cubicBezTo>
                <a:cubicBezTo>
                  <a:pt x="1252537" y="26988"/>
                  <a:pt x="2039938" y="22225"/>
                  <a:pt x="220027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617F2FBA-42C8-8784-4040-B5275111CAC5}"/>
              </a:ext>
            </a:extLst>
          </p:cNvPr>
          <p:cNvSpPr/>
          <p:nvPr/>
        </p:nvSpPr>
        <p:spPr>
          <a:xfrm>
            <a:off x="4238625" y="4929188"/>
            <a:ext cx="2085975" cy="1085850"/>
          </a:xfrm>
          <a:custGeom>
            <a:avLst/>
            <a:gdLst>
              <a:gd name="connsiteX0" fmla="*/ 0 w 2085975"/>
              <a:gd name="connsiteY0" fmla="*/ 1085850 h 1085850"/>
              <a:gd name="connsiteX1" fmla="*/ 781050 w 2085975"/>
              <a:gd name="connsiteY1" fmla="*/ 385762 h 1085850"/>
              <a:gd name="connsiteX2" fmla="*/ 2085975 w 2085975"/>
              <a:gd name="connsiteY2" fmla="*/ 0 h 108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85975" h="1085850">
                <a:moveTo>
                  <a:pt x="0" y="1085850"/>
                </a:moveTo>
                <a:cubicBezTo>
                  <a:pt x="216694" y="826293"/>
                  <a:pt x="433388" y="566737"/>
                  <a:pt x="781050" y="385762"/>
                </a:cubicBezTo>
                <a:cubicBezTo>
                  <a:pt x="1128713" y="204787"/>
                  <a:pt x="1607344" y="102393"/>
                  <a:pt x="208597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F26D76DF-B5D3-B5A2-D8C7-8A938DEF2D1B}"/>
              </a:ext>
            </a:extLst>
          </p:cNvPr>
          <p:cNvSpPr/>
          <p:nvPr/>
        </p:nvSpPr>
        <p:spPr>
          <a:xfrm>
            <a:off x="4200525" y="5129213"/>
            <a:ext cx="2166938" cy="942975"/>
          </a:xfrm>
          <a:custGeom>
            <a:avLst/>
            <a:gdLst>
              <a:gd name="connsiteX0" fmla="*/ 0 w 2166938"/>
              <a:gd name="connsiteY0" fmla="*/ 942975 h 942975"/>
              <a:gd name="connsiteX1" fmla="*/ 900113 w 2166938"/>
              <a:gd name="connsiteY1" fmla="*/ 333375 h 942975"/>
              <a:gd name="connsiteX2" fmla="*/ 2166938 w 2166938"/>
              <a:gd name="connsiteY2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6938" h="942975">
                <a:moveTo>
                  <a:pt x="0" y="942975"/>
                </a:moveTo>
                <a:cubicBezTo>
                  <a:pt x="269478" y="716756"/>
                  <a:pt x="538957" y="490537"/>
                  <a:pt x="900113" y="333375"/>
                </a:cubicBezTo>
                <a:cubicBezTo>
                  <a:pt x="1261269" y="176212"/>
                  <a:pt x="1966913" y="70644"/>
                  <a:pt x="2166938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ECC7B83A-64A9-B4FE-6F98-BA5062815754}"/>
              </a:ext>
            </a:extLst>
          </p:cNvPr>
          <p:cNvSpPr/>
          <p:nvPr/>
        </p:nvSpPr>
        <p:spPr>
          <a:xfrm>
            <a:off x="4210050" y="5403423"/>
            <a:ext cx="2181225" cy="687815"/>
          </a:xfrm>
          <a:custGeom>
            <a:avLst/>
            <a:gdLst>
              <a:gd name="connsiteX0" fmla="*/ 0 w 2181225"/>
              <a:gd name="connsiteY0" fmla="*/ 687815 h 687815"/>
              <a:gd name="connsiteX1" fmla="*/ 1100138 w 2181225"/>
              <a:gd name="connsiteY1" fmla="*/ 206802 h 687815"/>
              <a:gd name="connsiteX2" fmla="*/ 2181225 w 2181225"/>
              <a:gd name="connsiteY2" fmla="*/ 2015 h 687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1225" h="687815">
                <a:moveTo>
                  <a:pt x="0" y="687815"/>
                </a:moveTo>
                <a:cubicBezTo>
                  <a:pt x="368300" y="504458"/>
                  <a:pt x="736601" y="321102"/>
                  <a:pt x="1100138" y="206802"/>
                </a:cubicBezTo>
                <a:cubicBezTo>
                  <a:pt x="1463675" y="92502"/>
                  <a:pt x="2025650" y="-16241"/>
                  <a:pt x="2181225" y="201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F90A6E-B2E7-1976-FD6B-10525306C79B}"/>
              </a:ext>
            </a:extLst>
          </p:cNvPr>
          <p:cNvSpPr txBox="1"/>
          <p:nvPr/>
        </p:nvSpPr>
        <p:spPr>
          <a:xfrm>
            <a:off x="6016477" y="6105056"/>
            <a:ext cx="7671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일자</a:t>
            </a:r>
            <a:endParaRPr lang="en-US" altLang="ko-KR" sz="7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506A55-E0AE-6556-597B-DAEC2CFA7DF1}"/>
              </a:ext>
            </a:extLst>
          </p:cNvPr>
          <p:cNvSpPr txBox="1"/>
          <p:nvPr/>
        </p:nvSpPr>
        <p:spPr>
          <a:xfrm>
            <a:off x="4101662" y="4668847"/>
            <a:ext cx="7671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인구 수</a:t>
            </a:r>
            <a:endParaRPr lang="en-US" altLang="ko-KR" sz="7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F3C038-E6EB-7411-0A5B-CED35050457F}"/>
              </a:ext>
            </a:extLst>
          </p:cNvPr>
          <p:cNvSpPr txBox="1"/>
          <p:nvPr/>
        </p:nvSpPr>
        <p:spPr>
          <a:xfrm>
            <a:off x="8669390" y="6105056"/>
            <a:ext cx="7671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일자</a:t>
            </a:r>
            <a:endParaRPr lang="en-US" altLang="ko-KR" sz="7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643EB0-97FF-5CA3-EC37-52D9F9034717}"/>
              </a:ext>
            </a:extLst>
          </p:cNvPr>
          <p:cNvSpPr txBox="1"/>
          <p:nvPr/>
        </p:nvSpPr>
        <p:spPr>
          <a:xfrm>
            <a:off x="6754575" y="4668847"/>
            <a:ext cx="7671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시간</a:t>
            </a:r>
            <a:endParaRPr lang="en-US" altLang="ko-KR" sz="7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035122-BB5A-CC83-9F7E-35A1A8D01E97}"/>
              </a:ext>
            </a:extLst>
          </p:cNvPr>
          <p:cNvSpPr txBox="1"/>
          <p:nvPr/>
        </p:nvSpPr>
        <p:spPr>
          <a:xfrm>
            <a:off x="6061172" y="4652783"/>
            <a:ext cx="7671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유동인구</a:t>
            </a:r>
            <a:endParaRPr lang="en-US" altLang="ko-KR" sz="7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A7F8EF-E58E-71BA-74BF-205D275FC0E3}"/>
              </a:ext>
            </a:extLst>
          </p:cNvPr>
          <p:cNvSpPr txBox="1"/>
          <p:nvPr/>
        </p:nvSpPr>
        <p:spPr>
          <a:xfrm>
            <a:off x="6061172" y="4857630"/>
            <a:ext cx="7671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가시권 인구</a:t>
            </a:r>
            <a:endParaRPr lang="en-US" altLang="ko-KR" sz="7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C95D58-FBC8-39AE-BAD5-986EC2DAF60B}"/>
              </a:ext>
            </a:extLst>
          </p:cNvPr>
          <p:cNvSpPr txBox="1"/>
          <p:nvPr/>
        </p:nvSpPr>
        <p:spPr>
          <a:xfrm>
            <a:off x="6061172" y="5039256"/>
            <a:ext cx="7671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/>
              <a:t>노출인구</a:t>
            </a:r>
            <a:endParaRPr lang="en-US" altLang="ko-KR" sz="7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68717E-F6A8-6602-6544-5DE8E5E77CF2}"/>
              </a:ext>
            </a:extLst>
          </p:cNvPr>
          <p:cNvSpPr txBox="1"/>
          <p:nvPr/>
        </p:nvSpPr>
        <p:spPr>
          <a:xfrm>
            <a:off x="6061172" y="5320925"/>
            <a:ext cx="7671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시청인구</a:t>
            </a:r>
            <a:endParaRPr lang="en-US" altLang="ko-KR" sz="7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8226E9-689D-A067-94CF-57B1FED4339F}"/>
              </a:ext>
            </a:extLst>
          </p:cNvPr>
          <p:cNvSpPr txBox="1"/>
          <p:nvPr/>
        </p:nvSpPr>
        <p:spPr>
          <a:xfrm>
            <a:off x="8960600" y="5039256"/>
            <a:ext cx="7671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체류시간</a:t>
            </a:r>
            <a:endParaRPr lang="en-US" altLang="ko-KR" sz="7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17686E-6B26-0F75-389B-6AAEA535D128}"/>
              </a:ext>
            </a:extLst>
          </p:cNvPr>
          <p:cNvSpPr txBox="1"/>
          <p:nvPr/>
        </p:nvSpPr>
        <p:spPr>
          <a:xfrm>
            <a:off x="8960600" y="5320925"/>
            <a:ext cx="76711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시청시간</a:t>
            </a:r>
            <a:endParaRPr lang="en-US" altLang="ko-KR" sz="7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20F48AD-6DF0-9B05-2F38-B10842A2F1F2}"/>
              </a:ext>
            </a:extLst>
          </p:cNvPr>
          <p:cNvSpPr/>
          <p:nvPr/>
        </p:nvSpPr>
        <p:spPr>
          <a:xfrm>
            <a:off x="7081838" y="4868902"/>
            <a:ext cx="323848" cy="1236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7B95CB1-BDDB-DDE2-82C2-CD12BAFCCD35}"/>
              </a:ext>
            </a:extLst>
          </p:cNvPr>
          <p:cNvSpPr/>
          <p:nvPr/>
        </p:nvSpPr>
        <p:spPr>
          <a:xfrm>
            <a:off x="7600505" y="4868902"/>
            <a:ext cx="323848" cy="1236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499F0CA-F5FA-9064-4820-CAD7C84D5336}"/>
              </a:ext>
            </a:extLst>
          </p:cNvPr>
          <p:cNvSpPr/>
          <p:nvPr/>
        </p:nvSpPr>
        <p:spPr>
          <a:xfrm>
            <a:off x="8119172" y="4868902"/>
            <a:ext cx="323848" cy="1236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DB84722-5F82-9DD7-805C-BEB7BE57B2CF}"/>
              </a:ext>
            </a:extLst>
          </p:cNvPr>
          <p:cNvSpPr/>
          <p:nvPr/>
        </p:nvSpPr>
        <p:spPr>
          <a:xfrm>
            <a:off x="8637839" y="4868902"/>
            <a:ext cx="323848" cy="1236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8104FD4-AF24-5276-5C1A-BE996DC2A26D}"/>
              </a:ext>
            </a:extLst>
          </p:cNvPr>
          <p:cNvSpPr/>
          <p:nvPr/>
        </p:nvSpPr>
        <p:spPr>
          <a:xfrm>
            <a:off x="8637839" y="5266343"/>
            <a:ext cx="323848" cy="85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390D3FC-1DCF-637B-C407-46A4360B205C}"/>
              </a:ext>
            </a:extLst>
          </p:cNvPr>
          <p:cNvSpPr/>
          <p:nvPr/>
        </p:nvSpPr>
        <p:spPr>
          <a:xfrm>
            <a:off x="8119171" y="5266343"/>
            <a:ext cx="323848" cy="85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3E7451E-A4FF-A863-144F-249D628B157C}"/>
              </a:ext>
            </a:extLst>
          </p:cNvPr>
          <p:cNvSpPr/>
          <p:nvPr/>
        </p:nvSpPr>
        <p:spPr>
          <a:xfrm>
            <a:off x="7617624" y="5266343"/>
            <a:ext cx="323848" cy="85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684C682-413F-8775-43DF-3BB5EF1C42CE}"/>
              </a:ext>
            </a:extLst>
          </p:cNvPr>
          <p:cNvSpPr/>
          <p:nvPr/>
        </p:nvSpPr>
        <p:spPr>
          <a:xfrm>
            <a:off x="7089800" y="5266343"/>
            <a:ext cx="323848" cy="85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F5493351-70D1-1764-04FE-868E4BEF7645}"/>
              </a:ext>
            </a:extLst>
          </p:cNvPr>
          <p:cNvCxnSpPr>
            <a:cxnSpLocks/>
          </p:cNvCxnSpPr>
          <p:nvPr/>
        </p:nvCxnSpPr>
        <p:spPr>
          <a:xfrm>
            <a:off x="7251724" y="4541004"/>
            <a:ext cx="259785" cy="2169183"/>
          </a:xfrm>
          <a:prstGeom prst="lin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E21BCEC-3177-15B9-1E73-875506BF037F}"/>
              </a:ext>
            </a:extLst>
          </p:cNvPr>
          <p:cNvSpPr txBox="1"/>
          <p:nvPr/>
        </p:nvSpPr>
        <p:spPr>
          <a:xfrm>
            <a:off x="4785360" y="2193130"/>
            <a:ext cx="850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(</a:t>
            </a:r>
            <a:r>
              <a:rPr lang="ko-KR" altLang="en-US" sz="700" dirty="0"/>
              <a:t>지표 </a:t>
            </a:r>
            <a:r>
              <a:rPr lang="ko-KR" altLang="en-US" sz="700" dirty="0" err="1"/>
              <a:t>정의기</a:t>
            </a:r>
            <a:r>
              <a:rPr lang="ko-KR" altLang="en-US" sz="700" dirty="0"/>
              <a:t> 재</a:t>
            </a:r>
            <a:r>
              <a:rPr lang="en-US" altLang="ko-KR" sz="700" dirty="0"/>
              <a:t>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803CCD-961E-B58D-EBFE-954E5EE43B6C}"/>
              </a:ext>
            </a:extLst>
          </p:cNvPr>
          <p:cNvSpPr txBox="1"/>
          <p:nvPr/>
        </p:nvSpPr>
        <p:spPr>
          <a:xfrm>
            <a:off x="4785360" y="2890038"/>
            <a:ext cx="850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(</a:t>
            </a:r>
            <a:r>
              <a:rPr lang="ko-KR" altLang="en-US" sz="700" dirty="0"/>
              <a:t>지표 정의 기재</a:t>
            </a:r>
            <a:r>
              <a:rPr lang="en-US" altLang="ko-KR" sz="700" dirty="0"/>
              <a:t>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C7EF1E4-B2EB-97E6-7C18-08A0205273FD}"/>
              </a:ext>
            </a:extLst>
          </p:cNvPr>
          <p:cNvSpPr txBox="1"/>
          <p:nvPr/>
        </p:nvSpPr>
        <p:spPr>
          <a:xfrm>
            <a:off x="4785360" y="3630943"/>
            <a:ext cx="850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(</a:t>
            </a:r>
            <a:r>
              <a:rPr lang="ko-KR" altLang="en-US" sz="700" dirty="0"/>
              <a:t>지표 정의 기재</a:t>
            </a:r>
            <a:r>
              <a:rPr lang="en-US" altLang="ko-KR" sz="700" dirty="0"/>
              <a:t>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5DB3FB-E6EE-3D29-A7B3-46DCDE4DAB5D}"/>
              </a:ext>
            </a:extLst>
          </p:cNvPr>
          <p:cNvSpPr txBox="1"/>
          <p:nvPr/>
        </p:nvSpPr>
        <p:spPr>
          <a:xfrm>
            <a:off x="6563118" y="2193130"/>
            <a:ext cx="850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(</a:t>
            </a:r>
            <a:r>
              <a:rPr lang="ko-KR" altLang="en-US" sz="700" dirty="0"/>
              <a:t>지표 정의 기재</a:t>
            </a:r>
            <a:r>
              <a:rPr lang="en-US" altLang="ko-KR" sz="700" dirty="0"/>
              <a:t>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FE42DD-6076-B3BB-25D9-DC912E8755EF}"/>
              </a:ext>
            </a:extLst>
          </p:cNvPr>
          <p:cNvSpPr txBox="1"/>
          <p:nvPr/>
        </p:nvSpPr>
        <p:spPr>
          <a:xfrm>
            <a:off x="6563118" y="2890038"/>
            <a:ext cx="850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(</a:t>
            </a:r>
            <a:r>
              <a:rPr lang="ko-KR" altLang="en-US" sz="700" dirty="0"/>
              <a:t>지표 정의 기재</a:t>
            </a:r>
            <a:r>
              <a:rPr lang="en-US" altLang="ko-KR" sz="700" dirty="0"/>
              <a:t>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8BAF3D6-0B6E-ED54-7FC4-73F8727AB20F}"/>
              </a:ext>
            </a:extLst>
          </p:cNvPr>
          <p:cNvSpPr txBox="1"/>
          <p:nvPr/>
        </p:nvSpPr>
        <p:spPr>
          <a:xfrm>
            <a:off x="6563118" y="3630943"/>
            <a:ext cx="850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(</a:t>
            </a:r>
            <a:r>
              <a:rPr lang="ko-KR" altLang="en-US" sz="700" dirty="0"/>
              <a:t>지표 정의 기재</a:t>
            </a:r>
            <a:r>
              <a:rPr lang="en-US" altLang="ko-KR" sz="700" dirty="0"/>
              <a:t>)</a:t>
            </a:r>
          </a:p>
        </p:txBody>
      </p:sp>
      <p:cxnSp>
        <p:nvCxnSpPr>
          <p:cNvPr id="76" name="연결선: 구부러짐 75">
            <a:extLst>
              <a:ext uri="{FF2B5EF4-FFF2-40B4-BE49-F238E27FC236}">
                <a16:creationId xmlns:a16="http://schemas.microsoft.com/office/drawing/2014/main" id="{4FB64709-8145-AC65-B012-1269180C791E}"/>
              </a:ext>
            </a:extLst>
          </p:cNvPr>
          <p:cNvCxnSpPr>
            <a:cxnSpLocks/>
          </p:cNvCxnSpPr>
          <p:nvPr/>
        </p:nvCxnSpPr>
        <p:spPr>
          <a:xfrm rot="10800000" flipV="1">
            <a:off x="9171321" y="2716005"/>
            <a:ext cx="242555" cy="118263"/>
          </a:xfrm>
          <a:prstGeom prst="curvedConnector3">
            <a:avLst>
              <a:gd name="adj1" fmla="val -97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FE807674-302E-2FE7-EA02-55EFED3A21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9171321" y="2871802"/>
            <a:ext cx="242555" cy="118263"/>
          </a:xfrm>
          <a:prstGeom prst="curvedConnector3">
            <a:avLst>
              <a:gd name="adj1" fmla="val -979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설명선: 선 87">
            <a:extLst>
              <a:ext uri="{FF2B5EF4-FFF2-40B4-BE49-F238E27FC236}">
                <a16:creationId xmlns:a16="http://schemas.microsoft.com/office/drawing/2014/main" id="{D43BC7B0-B729-1F5E-F00F-46FE70655D16}"/>
              </a:ext>
            </a:extLst>
          </p:cNvPr>
          <p:cNvSpPr/>
          <p:nvPr/>
        </p:nvSpPr>
        <p:spPr>
          <a:xfrm>
            <a:off x="10013943" y="2173885"/>
            <a:ext cx="1355922" cy="1045565"/>
          </a:xfrm>
          <a:prstGeom prst="borderCallout1">
            <a:avLst>
              <a:gd name="adj1" fmla="val 18750"/>
              <a:gd name="adj2" fmla="val -8333"/>
              <a:gd name="adj3" fmla="val 64113"/>
              <a:gd name="adj4" fmla="val -2856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A6792CE-F29A-EE66-3868-5A1E21093B00}"/>
              </a:ext>
            </a:extLst>
          </p:cNvPr>
          <p:cNvSpPr txBox="1"/>
          <p:nvPr/>
        </p:nvSpPr>
        <p:spPr>
          <a:xfrm>
            <a:off x="10166743" y="2434158"/>
            <a:ext cx="120312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 err="1"/>
              <a:t>퍼널</a:t>
            </a:r>
            <a:r>
              <a:rPr lang="ko-KR" altLang="en-US" sz="900" dirty="0"/>
              <a:t> 분석 </a:t>
            </a:r>
            <a:r>
              <a:rPr lang="en-US" altLang="ko-KR" sz="900" dirty="0"/>
              <a:t>% </a:t>
            </a:r>
            <a:r>
              <a:rPr lang="ko-KR" altLang="en-US" sz="900" dirty="0"/>
              <a:t>가시화</a:t>
            </a:r>
            <a:endParaRPr lang="en-US" altLang="ko-KR" sz="900" dirty="0"/>
          </a:p>
          <a:p>
            <a:pPr algn="ctr"/>
            <a:endParaRPr lang="en-US" altLang="ko-KR" sz="700" dirty="0"/>
          </a:p>
          <a:p>
            <a:pPr algn="ctr"/>
            <a:r>
              <a:rPr lang="en-US" altLang="ko-KR" sz="700" dirty="0"/>
              <a:t>(</a:t>
            </a:r>
            <a:r>
              <a:rPr lang="ko-KR" altLang="en-US" sz="700" dirty="0"/>
              <a:t>예</a:t>
            </a:r>
            <a:r>
              <a:rPr lang="en-US" altLang="ko-KR" sz="700" dirty="0"/>
              <a:t>) 95.1%=</a:t>
            </a:r>
            <a:r>
              <a:rPr lang="ko-KR" altLang="en-US" sz="700" dirty="0"/>
              <a:t>가시권</a:t>
            </a:r>
            <a:r>
              <a:rPr lang="en-US" altLang="ko-KR" sz="700" dirty="0"/>
              <a:t>/</a:t>
            </a:r>
            <a:r>
              <a:rPr lang="ko-KR" altLang="en-US" sz="700" dirty="0"/>
              <a:t>노출</a:t>
            </a:r>
            <a:endParaRPr lang="en-US" altLang="ko-KR" sz="700" dirty="0"/>
          </a:p>
          <a:p>
            <a:pPr algn="ctr"/>
            <a:r>
              <a:rPr lang="en-US" altLang="ko-KR" sz="700" dirty="0"/>
              <a:t>77.3%=</a:t>
            </a:r>
            <a:r>
              <a:rPr lang="ko-KR" altLang="en-US" sz="700" dirty="0"/>
              <a:t>시청</a:t>
            </a:r>
            <a:r>
              <a:rPr lang="en-US" altLang="ko-KR" sz="700" dirty="0"/>
              <a:t>/</a:t>
            </a:r>
            <a:r>
              <a:rPr lang="ko-KR" altLang="en-US" sz="700" dirty="0"/>
              <a:t>노출</a:t>
            </a:r>
            <a:endParaRPr lang="en-US" altLang="ko-KR" sz="700" dirty="0"/>
          </a:p>
          <a:p>
            <a:pPr algn="ctr"/>
            <a:r>
              <a:rPr lang="ko-KR" altLang="en-US" sz="700" dirty="0"/>
              <a:t>직관적으로 드러나게</a:t>
            </a:r>
            <a:endParaRPr lang="en-US" altLang="ko-KR" sz="700" dirty="0"/>
          </a:p>
        </p:txBody>
      </p:sp>
    </p:spTree>
    <p:extLst>
      <p:ext uri="{BB962C8B-B14F-4D97-AF65-F5344CB8AC3E}">
        <p14:creationId xmlns:p14="http://schemas.microsoft.com/office/powerpoint/2010/main" val="763492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80F944-C20A-1CB2-D3EE-77270CC6097E}"/>
              </a:ext>
            </a:extLst>
          </p:cNvPr>
          <p:cNvSpPr txBox="1"/>
          <p:nvPr/>
        </p:nvSpPr>
        <p:spPr>
          <a:xfrm>
            <a:off x="94940" y="95250"/>
            <a:ext cx="440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상세분석</a:t>
            </a:r>
            <a:r>
              <a:rPr lang="en-US" altLang="ko-KR" dirty="0"/>
              <a:t>]</a:t>
            </a:r>
            <a:r>
              <a:rPr lang="ko-KR" altLang="en-US" dirty="0"/>
              <a:t> </a:t>
            </a:r>
            <a:r>
              <a:rPr lang="en-US" altLang="ko-KR" dirty="0"/>
              <a:t>– [</a:t>
            </a:r>
            <a:r>
              <a:rPr lang="ko-KR" altLang="en-US" dirty="0"/>
              <a:t>지표 비교</a:t>
            </a:r>
            <a:r>
              <a:rPr lang="en-US" altLang="ko-KR" dirty="0"/>
              <a:t>](</a:t>
            </a:r>
            <a:r>
              <a:rPr lang="ko-KR" altLang="en-US" dirty="0"/>
              <a:t>추가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15F8181-252A-59F1-463C-F39F8D0B44D2}"/>
              </a:ext>
            </a:extLst>
          </p:cNvPr>
          <p:cNvGrpSpPr/>
          <p:nvPr/>
        </p:nvGrpSpPr>
        <p:grpSpPr>
          <a:xfrm>
            <a:off x="113481" y="630380"/>
            <a:ext cx="12002117" cy="5943905"/>
            <a:chOff x="94941" y="457047"/>
            <a:chExt cx="12002117" cy="594390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A5D898E-E749-AE1A-1AA1-B1F345CF6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941" y="457047"/>
              <a:ext cx="12002117" cy="5943905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3615FF95-83B3-6FC5-9507-E53A8FA44C05}"/>
                </a:ext>
              </a:extLst>
            </p:cNvPr>
            <p:cNvSpPr/>
            <p:nvPr/>
          </p:nvSpPr>
          <p:spPr>
            <a:xfrm>
              <a:off x="2006771" y="1490989"/>
              <a:ext cx="9242190" cy="4909963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656ACF-D1B5-6680-0230-17F6B3587078}"/>
              </a:ext>
            </a:extLst>
          </p:cNvPr>
          <p:cNvSpPr/>
          <p:nvPr/>
        </p:nvSpPr>
        <p:spPr>
          <a:xfrm>
            <a:off x="7229475" y="1404433"/>
            <a:ext cx="551392" cy="1769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/>
              <a:t>지표 비교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D2244DC-A336-5638-7B05-A3B1EA9A80EA}"/>
              </a:ext>
            </a:extLst>
          </p:cNvPr>
          <p:cNvCxnSpPr/>
          <p:nvPr/>
        </p:nvCxnSpPr>
        <p:spPr>
          <a:xfrm flipV="1">
            <a:off x="2700663" y="2092687"/>
            <a:ext cx="0" cy="3307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9EAD9CF-E7DF-5806-0FA5-033C1FCE9D79}"/>
              </a:ext>
            </a:extLst>
          </p:cNvPr>
          <p:cNvCxnSpPr>
            <a:cxnSpLocks/>
          </p:cNvCxnSpPr>
          <p:nvPr/>
        </p:nvCxnSpPr>
        <p:spPr>
          <a:xfrm>
            <a:off x="2700663" y="5400483"/>
            <a:ext cx="54004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A77FCF9-8DC3-992D-0AA2-050ADF44D653}"/>
              </a:ext>
            </a:extLst>
          </p:cNvPr>
          <p:cNvSpPr/>
          <p:nvPr/>
        </p:nvSpPr>
        <p:spPr>
          <a:xfrm>
            <a:off x="8580120" y="3307420"/>
            <a:ext cx="3370048" cy="19059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D431C9-3A0C-53E4-9087-AE086ADDA1D2}"/>
              </a:ext>
            </a:extLst>
          </p:cNvPr>
          <p:cNvSpPr txBox="1"/>
          <p:nvPr/>
        </p:nvSpPr>
        <p:spPr>
          <a:xfrm>
            <a:off x="7407675" y="5462199"/>
            <a:ext cx="7671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일자 </a:t>
            </a:r>
            <a:endParaRPr lang="en-US" altLang="ko-KR" sz="1100" dirty="0"/>
          </a:p>
          <a:p>
            <a:r>
              <a:rPr lang="en-US" altLang="ko-KR" sz="1100" dirty="0"/>
              <a:t>/ </a:t>
            </a:r>
            <a:r>
              <a:rPr lang="ko-KR" altLang="en-US" sz="1100" dirty="0"/>
              <a:t>시간대</a:t>
            </a:r>
            <a:endParaRPr lang="en-US" altLang="ko-KR" sz="1100" dirty="0"/>
          </a:p>
          <a:p>
            <a:r>
              <a:rPr lang="en-US" altLang="ko-KR" sz="1100" dirty="0"/>
              <a:t>/ </a:t>
            </a:r>
            <a:r>
              <a:rPr lang="ko-KR" altLang="en-US" sz="1100" dirty="0"/>
              <a:t>요일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3E6C23-3960-E355-28AF-4B877E0DA15F}"/>
              </a:ext>
            </a:extLst>
          </p:cNvPr>
          <p:cNvSpPr txBox="1"/>
          <p:nvPr/>
        </p:nvSpPr>
        <p:spPr>
          <a:xfrm>
            <a:off x="1852566" y="1878242"/>
            <a:ext cx="7671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인구수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C38A2A-AC4C-4E48-2C66-B11C54FD4CA9}"/>
              </a:ext>
            </a:extLst>
          </p:cNvPr>
          <p:cNvSpPr txBox="1"/>
          <p:nvPr/>
        </p:nvSpPr>
        <p:spPr>
          <a:xfrm>
            <a:off x="8827135" y="3390747"/>
            <a:ext cx="7957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지표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CAC8BC-C60A-18E0-8443-1BA3108FB6BF}"/>
              </a:ext>
            </a:extLst>
          </p:cNvPr>
          <p:cNvSpPr txBox="1"/>
          <p:nvPr/>
        </p:nvSpPr>
        <p:spPr>
          <a:xfrm>
            <a:off x="9951165" y="3390747"/>
            <a:ext cx="7957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성별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E2960E-E40B-FB60-A1F3-593751ACAC7B}"/>
              </a:ext>
            </a:extLst>
          </p:cNvPr>
          <p:cNvSpPr txBox="1"/>
          <p:nvPr/>
        </p:nvSpPr>
        <p:spPr>
          <a:xfrm>
            <a:off x="10884702" y="3390747"/>
            <a:ext cx="7957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연령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218FAF-2835-61EA-C03B-E845EA38FF95}"/>
              </a:ext>
            </a:extLst>
          </p:cNvPr>
          <p:cNvSpPr txBox="1"/>
          <p:nvPr/>
        </p:nvSpPr>
        <p:spPr>
          <a:xfrm>
            <a:off x="9072550" y="2307801"/>
            <a:ext cx="74668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일자별 분석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3EC6F-ED5D-868F-3998-E21FC5EA2B06}"/>
              </a:ext>
            </a:extLst>
          </p:cNvPr>
          <p:cNvSpPr txBox="1"/>
          <p:nvPr/>
        </p:nvSpPr>
        <p:spPr>
          <a:xfrm>
            <a:off x="10138016" y="2307801"/>
            <a:ext cx="74668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시간대분석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CC21B6-2BEA-76D8-1C8F-828F73CF74C1}"/>
              </a:ext>
            </a:extLst>
          </p:cNvPr>
          <p:cNvSpPr txBox="1"/>
          <p:nvPr/>
        </p:nvSpPr>
        <p:spPr>
          <a:xfrm>
            <a:off x="11203482" y="2307801"/>
            <a:ext cx="74668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요일별 분석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0E90FD-E6CA-1F34-BD71-DFA51A3BCCC1}"/>
              </a:ext>
            </a:extLst>
          </p:cNvPr>
          <p:cNvSpPr/>
          <p:nvPr/>
        </p:nvSpPr>
        <p:spPr>
          <a:xfrm>
            <a:off x="8580120" y="2309385"/>
            <a:ext cx="332331" cy="49096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X</a:t>
            </a:r>
            <a:r>
              <a:rPr lang="ko-KR" altLang="en-US" sz="1200" b="1" dirty="0"/>
              <a:t>축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F921F67-15E6-9AD3-E118-8B0C39B40543}"/>
              </a:ext>
            </a:extLst>
          </p:cNvPr>
          <p:cNvCxnSpPr/>
          <p:nvPr/>
        </p:nvCxnSpPr>
        <p:spPr>
          <a:xfrm flipV="1">
            <a:off x="8046677" y="2092687"/>
            <a:ext cx="0" cy="3307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3FE4A9A-A0A4-2A9E-178E-3C98EC4DCD22}"/>
              </a:ext>
            </a:extLst>
          </p:cNvPr>
          <p:cNvSpPr txBox="1"/>
          <p:nvPr/>
        </p:nvSpPr>
        <p:spPr>
          <a:xfrm>
            <a:off x="7198580" y="1878242"/>
            <a:ext cx="7671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시간</a:t>
            </a:r>
            <a:endParaRPr lang="en-US" altLang="ko-KR" sz="1050" dirty="0"/>
          </a:p>
          <a:p>
            <a:r>
              <a:rPr lang="en-US" altLang="ko-KR" sz="1050" dirty="0"/>
              <a:t>(</a:t>
            </a:r>
            <a:r>
              <a:rPr lang="ko-KR" altLang="en-US" sz="1050" dirty="0"/>
              <a:t>분</a:t>
            </a:r>
            <a:r>
              <a:rPr lang="en-US" altLang="ko-KR" sz="1050" dirty="0"/>
              <a:t>/</a:t>
            </a:r>
            <a:r>
              <a:rPr lang="ko-KR" altLang="en-US" sz="1050" dirty="0"/>
              <a:t>초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FF6D8C-D416-F9DD-37F8-D52CB54EA047}"/>
              </a:ext>
            </a:extLst>
          </p:cNvPr>
          <p:cNvSpPr txBox="1"/>
          <p:nvPr/>
        </p:nvSpPr>
        <p:spPr>
          <a:xfrm>
            <a:off x="8681979" y="3627961"/>
            <a:ext cx="992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유동인구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EE8EE0-382F-E8C9-B550-2208453951AA}"/>
              </a:ext>
            </a:extLst>
          </p:cNvPr>
          <p:cNvSpPr txBox="1"/>
          <p:nvPr/>
        </p:nvSpPr>
        <p:spPr>
          <a:xfrm>
            <a:off x="8681979" y="3824660"/>
            <a:ext cx="992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가시권 인구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2EF11-3FB4-F799-AB17-5AAED9A85C8B}"/>
              </a:ext>
            </a:extLst>
          </p:cNvPr>
          <p:cNvSpPr txBox="1"/>
          <p:nvPr/>
        </p:nvSpPr>
        <p:spPr>
          <a:xfrm>
            <a:off x="8681979" y="4021359"/>
            <a:ext cx="992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□ 노출 </a:t>
            </a:r>
            <a:r>
              <a:rPr lang="ko-KR" altLang="en-US" sz="800" dirty="0"/>
              <a:t>인구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EC8A50-48DA-E77F-E914-C4F8CAC51620}"/>
              </a:ext>
            </a:extLst>
          </p:cNvPr>
          <p:cNvSpPr txBox="1"/>
          <p:nvPr/>
        </p:nvSpPr>
        <p:spPr>
          <a:xfrm>
            <a:off x="8681979" y="4218058"/>
            <a:ext cx="992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□ 시청 </a:t>
            </a:r>
            <a:r>
              <a:rPr lang="ko-KR" altLang="en-US" sz="800" dirty="0"/>
              <a:t>인구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E3D2B0-24C5-1C08-B323-2CEB351CB723}"/>
              </a:ext>
            </a:extLst>
          </p:cNvPr>
          <p:cNvSpPr txBox="1"/>
          <p:nvPr/>
        </p:nvSpPr>
        <p:spPr>
          <a:xfrm>
            <a:off x="8681979" y="4414758"/>
            <a:ext cx="1276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</a:t>
            </a:r>
            <a:r>
              <a:rPr lang="en-US" altLang="ko-KR" sz="800" dirty="0"/>
              <a:t>(</a:t>
            </a:r>
            <a:r>
              <a:rPr lang="ko-KR" altLang="en-US" sz="800" dirty="0"/>
              <a:t>가제</a:t>
            </a:r>
            <a:r>
              <a:rPr lang="en-US" altLang="ko-KR" sz="800" dirty="0"/>
              <a:t>)</a:t>
            </a:r>
            <a:r>
              <a:rPr lang="ko-KR" altLang="en-US" sz="800" dirty="0"/>
              <a:t>집중시청 인구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AE008-43CF-27F6-6B53-4680D66D8AA6}"/>
              </a:ext>
            </a:extLst>
          </p:cNvPr>
          <p:cNvSpPr txBox="1"/>
          <p:nvPr/>
        </p:nvSpPr>
        <p:spPr>
          <a:xfrm>
            <a:off x="8681979" y="4700653"/>
            <a:ext cx="1276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체류시간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E36964-CE94-5CBE-BF04-DB94AD157163}"/>
              </a:ext>
            </a:extLst>
          </p:cNvPr>
          <p:cNvSpPr txBox="1"/>
          <p:nvPr/>
        </p:nvSpPr>
        <p:spPr>
          <a:xfrm>
            <a:off x="8681979" y="4891701"/>
            <a:ext cx="1276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시청시간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4184CB-A669-DB14-914F-663864C38986}"/>
              </a:ext>
            </a:extLst>
          </p:cNvPr>
          <p:cNvSpPr txBox="1"/>
          <p:nvPr/>
        </p:nvSpPr>
        <p:spPr>
          <a:xfrm>
            <a:off x="9990062" y="3821790"/>
            <a:ext cx="704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남성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2B2397-A74C-7C82-222C-FB23A6D72B88}"/>
              </a:ext>
            </a:extLst>
          </p:cNvPr>
          <p:cNvSpPr txBox="1"/>
          <p:nvPr/>
        </p:nvSpPr>
        <p:spPr>
          <a:xfrm>
            <a:off x="9990062" y="4018489"/>
            <a:ext cx="704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여성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587007-322C-82B6-05E8-E3F4544D74C1}"/>
              </a:ext>
            </a:extLst>
          </p:cNvPr>
          <p:cNvSpPr txBox="1"/>
          <p:nvPr/>
        </p:nvSpPr>
        <p:spPr>
          <a:xfrm>
            <a:off x="10938697" y="3807107"/>
            <a:ext cx="992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</a:t>
            </a:r>
            <a:r>
              <a:rPr lang="en-US" altLang="ko-KR" sz="800" dirty="0"/>
              <a:t>10</a:t>
            </a:r>
            <a:r>
              <a:rPr lang="ko-KR" altLang="en-US" sz="800" dirty="0"/>
              <a:t>대 이하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CE8008-F3A1-08B2-64D6-A0CF6C750749}"/>
              </a:ext>
            </a:extLst>
          </p:cNvPr>
          <p:cNvSpPr txBox="1"/>
          <p:nvPr/>
        </p:nvSpPr>
        <p:spPr>
          <a:xfrm>
            <a:off x="10938697" y="3999777"/>
            <a:ext cx="992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</a:t>
            </a:r>
            <a:r>
              <a:rPr lang="en-US" altLang="ko-KR" sz="800" dirty="0"/>
              <a:t>20</a:t>
            </a:r>
            <a:r>
              <a:rPr lang="ko-KR" altLang="en-US" sz="800" dirty="0"/>
              <a:t>대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04D277-024F-9C35-CC12-AE5A21171600}"/>
              </a:ext>
            </a:extLst>
          </p:cNvPr>
          <p:cNvSpPr txBox="1"/>
          <p:nvPr/>
        </p:nvSpPr>
        <p:spPr>
          <a:xfrm>
            <a:off x="10938697" y="4192447"/>
            <a:ext cx="992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</a:t>
            </a:r>
            <a:r>
              <a:rPr lang="en-US" altLang="ko-KR" sz="800" dirty="0"/>
              <a:t>30</a:t>
            </a:r>
            <a:r>
              <a:rPr lang="ko-KR" altLang="en-US" sz="800" dirty="0"/>
              <a:t>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BC099E-7D08-9059-4C57-F9FD2842902C}"/>
              </a:ext>
            </a:extLst>
          </p:cNvPr>
          <p:cNvSpPr txBox="1"/>
          <p:nvPr/>
        </p:nvSpPr>
        <p:spPr>
          <a:xfrm>
            <a:off x="10938697" y="4385117"/>
            <a:ext cx="992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</a:t>
            </a:r>
            <a:r>
              <a:rPr lang="en-US" altLang="ko-KR" sz="800" dirty="0"/>
              <a:t>40</a:t>
            </a:r>
            <a:r>
              <a:rPr lang="ko-KR" altLang="en-US" sz="800" dirty="0"/>
              <a:t>대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A1B4CCD-33E9-47AD-8D8E-C55E797D35E9}"/>
              </a:ext>
            </a:extLst>
          </p:cNvPr>
          <p:cNvSpPr txBox="1"/>
          <p:nvPr/>
        </p:nvSpPr>
        <p:spPr>
          <a:xfrm>
            <a:off x="10938697" y="4577787"/>
            <a:ext cx="992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</a:t>
            </a:r>
            <a:r>
              <a:rPr lang="en-US" altLang="ko-KR" sz="800" dirty="0"/>
              <a:t>50</a:t>
            </a:r>
            <a:r>
              <a:rPr lang="ko-KR" altLang="en-US" sz="800" dirty="0"/>
              <a:t>대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6E1295-CECD-C357-6248-B7FB7C9F01F8}"/>
              </a:ext>
            </a:extLst>
          </p:cNvPr>
          <p:cNvSpPr txBox="1"/>
          <p:nvPr/>
        </p:nvSpPr>
        <p:spPr>
          <a:xfrm>
            <a:off x="10938697" y="4783979"/>
            <a:ext cx="992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</a:t>
            </a:r>
            <a:r>
              <a:rPr lang="en-US" altLang="ko-KR" sz="800" dirty="0"/>
              <a:t>60</a:t>
            </a:r>
            <a:r>
              <a:rPr lang="ko-KR" altLang="en-US" sz="800" dirty="0"/>
              <a:t>대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729E62-C10D-586C-F4BC-012B192BCB29}"/>
              </a:ext>
            </a:extLst>
          </p:cNvPr>
          <p:cNvSpPr txBox="1"/>
          <p:nvPr/>
        </p:nvSpPr>
        <p:spPr>
          <a:xfrm>
            <a:off x="10938697" y="4963125"/>
            <a:ext cx="992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</a:t>
            </a:r>
            <a:r>
              <a:rPr lang="en-US" altLang="ko-KR" sz="800" dirty="0"/>
              <a:t>70</a:t>
            </a:r>
            <a:r>
              <a:rPr lang="ko-KR" altLang="en-US" sz="800" dirty="0"/>
              <a:t>대 이상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81A25430-5656-057D-55B4-DB78055F3033}"/>
              </a:ext>
            </a:extLst>
          </p:cNvPr>
          <p:cNvCxnSpPr>
            <a:cxnSpLocks/>
          </p:cNvCxnSpPr>
          <p:nvPr/>
        </p:nvCxnSpPr>
        <p:spPr>
          <a:xfrm flipH="1">
            <a:off x="9895436" y="3464402"/>
            <a:ext cx="1734" cy="1585593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22081D2-944C-951B-C3C6-B4798CCF7A05}"/>
              </a:ext>
            </a:extLst>
          </p:cNvPr>
          <p:cNvCxnSpPr/>
          <p:nvPr/>
        </p:nvCxnSpPr>
        <p:spPr>
          <a:xfrm flipH="1">
            <a:off x="10790940" y="3464402"/>
            <a:ext cx="1734" cy="1585593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설명선: 선 72">
            <a:extLst>
              <a:ext uri="{FF2B5EF4-FFF2-40B4-BE49-F238E27FC236}">
                <a16:creationId xmlns:a16="http://schemas.microsoft.com/office/drawing/2014/main" id="{C6E2A01D-85DA-624B-BDDD-635345A0C3D3}"/>
              </a:ext>
            </a:extLst>
          </p:cNvPr>
          <p:cNvSpPr/>
          <p:nvPr/>
        </p:nvSpPr>
        <p:spPr>
          <a:xfrm>
            <a:off x="12540781" y="3477894"/>
            <a:ext cx="1703820" cy="855504"/>
          </a:xfrm>
          <a:prstGeom prst="borderCallout1">
            <a:avLst>
              <a:gd name="adj1" fmla="val 18750"/>
              <a:gd name="adj2" fmla="val -8333"/>
              <a:gd name="adj3" fmla="val 18064"/>
              <a:gd name="adj4" fmla="val -5423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체크박스 형태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변경 가능</a:t>
            </a:r>
            <a:r>
              <a:rPr lang="en-US" altLang="ko-KR" dirty="0"/>
              <a:t>)</a:t>
            </a:r>
          </a:p>
        </p:txBody>
      </p:sp>
      <p:sp>
        <p:nvSpPr>
          <p:cNvPr id="74" name="설명선: 선 73">
            <a:extLst>
              <a:ext uri="{FF2B5EF4-FFF2-40B4-BE49-F238E27FC236}">
                <a16:creationId xmlns:a16="http://schemas.microsoft.com/office/drawing/2014/main" id="{0879C6FF-3255-1744-973C-6BE9C010AB36}"/>
              </a:ext>
            </a:extLst>
          </p:cNvPr>
          <p:cNvSpPr/>
          <p:nvPr/>
        </p:nvSpPr>
        <p:spPr>
          <a:xfrm>
            <a:off x="12705243" y="4973795"/>
            <a:ext cx="1703820" cy="2662766"/>
          </a:xfrm>
          <a:prstGeom prst="borderCallout1">
            <a:avLst>
              <a:gd name="adj1" fmla="val 18750"/>
              <a:gd name="adj2" fmla="val -8333"/>
              <a:gd name="adj3" fmla="val -14130"/>
              <a:gd name="adj4" fmla="val -6019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디폴트는 </a:t>
            </a:r>
            <a:r>
              <a:rPr lang="en-US" altLang="ko-KR" dirty="0"/>
              <a:t>‘</a:t>
            </a:r>
            <a:r>
              <a:rPr lang="ko-KR" altLang="en-US" dirty="0"/>
              <a:t>총 합계</a:t>
            </a:r>
            <a:r>
              <a:rPr lang="en-US" altLang="ko-KR" dirty="0"/>
              <a:t>’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구현난이도에 따라 성</a:t>
            </a:r>
            <a:r>
              <a:rPr lang="en-US" altLang="ko-KR" dirty="0"/>
              <a:t>/</a:t>
            </a:r>
            <a:r>
              <a:rPr lang="ko-KR" altLang="en-US" dirty="0"/>
              <a:t>연령 세분화는 일부 지표만 가능하도록 한정</a:t>
            </a:r>
            <a:endParaRPr lang="en-US" altLang="ko-KR" dirty="0"/>
          </a:p>
        </p:txBody>
      </p:sp>
      <p:sp>
        <p:nvSpPr>
          <p:cNvPr id="75" name="설명선: 선 74">
            <a:extLst>
              <a:ext uri="{FF2B5EF4-FFF2-40B4-BE49-F238E27FC236}">
                <a16:creationId xmlns:a16="http://schemas.microsoft.com/office/drawing/2014/main" id="{9650309F-7B73-EB02-9396-1C83A6EE00B6}"/>
              </a:ext>
            </a:extLst>
          </p:cNvPr>
          <p:cNvSpPr/>
          <p:nvPr/>
        </p:nvSpPr>
        <p:spPr>
          <a:xfrm>
            <a:off x="3292265" y="7027333"/>
            <a:ext cx="3684269" cy="1336483"/>
          </a:xfrm>
          <a:prstGeom prst="borderCallout1">
            <a:avLst>
              <a:gd name="adj1" fmla="val 18750"/>
              <a:gd name="adj2" fmla="val -8333"/>
              <a:gd name="adj3" fmla="val -151081"/>
              <a:gd name="adj4" fmla="val 868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인구지표는 꺾은 선 그래프</a:t>
            </a:r>
            <a:endParaRPr lang="en-US" altLang="ko-KR" dirty="0"/>
          </a:p>
          <a:p>
            <a:pPr algn="ctr"/>
            <a:r>
              <a:rPr lang="ko-KR" altLang="en-US" dirty="0"/>
              <a:t>시간 지표는 막대그래프로 표시</a:t>
            </a:r>
            <a:endParaRPr lang="en-US" altLang="ko-KR" dirty="0"/>
          </a:p>
          <a:p>
            <a:pPr algn="ctr"/>
            <a:r>
              <a:rPr lang="en-US" altLang="ko-KR" dirty="0"/>
              <a:t>Y</a:t>
            </a:r>
            <a:r>
              <a:rPr lang="ko-KR" altLang="en-US" dirty="0"/>
              <a:t>축 단위는 체크박스 선택에 따라 반응형으로 변화</a:t>
            </a:r>
            <a:endParaRPr lang="en-US" altLang="ko-KR" dirty="0"/>
          </a:p>
        </p:txBody>
      </p:sp>
      <p:sp>
        <p:nvSpPr>
          <p:cNvPr id="76" name="설명선: 선 75">
            <a:extLst>
              <a:ext uri="{FF2B5EF4-FFF2-40B4-BE49-F238E27FC236}">
                <a16:creationId xmlns:a16="http://schemas.microsoft.com/office/drawing/2014/main" id="{4FC8BEEE-6DD7-3DEE-4180-071A8BB91F44}"/>
              </a:ext>
            </a:extLst>
          </p:cNvPr>
          <p:cNvSpPr/>
          <p:nvPr/>
        </p:nvSpPr>
        <p:spPr>
          <a:xfrm>
            <a:off x="7831945" y="6632055"/>
            <a:ext cx="3684269" cy="1336483"/>
          </a:xfrm>
          <a:prstGeom prst="borderCallout1">
            <a:avLst>
              <a:gd name="adj1" fmla="val 18750"/>
              <a:gd name="adj2" fmla="val -8333"/>
              <a:gd name="adj3" fmla="val -46331"/>
              <a:gd name="adj4" fmla="val -944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우측 상단 분석</a:t>
            </a:r>
            <a:r>
              <a:rPr lang="en-US" altLang="ko-KR" dirty="0"/>
              <a:t>case </a:t>
            </a:r>
            <a:r>
              <a:rPr lang="ko-KR" altLang="en-US" dirty="0"/>
              <a:t>선택에 따라 </a:t>
            </a:r>
            <a:r>
              <a:rPr lang="en-US" altLang="ko-KR" dirty="0"/>
              <a:t>X</a:t>
            </a:r>
            <a:r>
              <a:rPr lang="ko-KR" altLang="en-US" dirty="0"/>
              <a:t>축 변동</a:t>
            </a:r>
            <a:endParaRPr lang="en-US" altLang="ko-KR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5F5E4E5-A262-5B14-C4D1-EFD13ABF5E04}"/>
              </a:ext>
            </a:extLst>
          </p:cNvPr>
          <p:cNvSpPr txBox="1"/>
          <p:nvPr/>
        </p:nvSpPr>
        <p:spPr>
          <a:xfrm>
            <a:off x="9990062" y="3644713"/>
            <a:ext cx="704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총 합계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E0393F-9A00-AD99-7A6A-B4C92FD3A366}"/>
              </a:ext>
            </a:extLst>
          </p:cNvPr>
          <p:cNvSpPr txBox="1"/>
          <p:nvPr/>
        </p:nvSpPr>
        <p:spPr>
          <a:xfrm>
            <a:off x="10936141" y="3644713"/>
            <a:ext cx="704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□ 총 합계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CC4FC20-0A25-478A-2124-DD36906C7837}"/>
              </a:ext>
            </a:extLst>
          </p:cNvPr>
          <p:cNvSpPr/>
          <p:nvPr/>
        </p:nvSpPr>
        <p:spPr>
          <a:xfrm>
            <a:off x="8580120" y="3070345"/>
            <a:ext cx="3370046" cy="26161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그래프 추가</a:t>
            </a:r>
          </a:p>
        </p:txBody>
      </p:sp>
      <p:sp>
        <p:nvSpPr>
          <p:cNvPr id="80" name="설명선: 선 79">
            <a:extLst>
              <a:ext uri="{FF2B5EF4-FFF2-40B4-BE49-F238E27FC236}">
                <a16:creationId xmlns:a16="http://schemas.microsoft.com/office/drawing/2014/main" id="{51962D7C-05EB-2EB1-7A60-1F0009E309FC}"/>
              </a:ext>
            </a:extLst>
          </p:cNvPr>
          <p:cNvSpPr/>
          <p:nvPr/>
        </p:nvSpPr>
        <p:spPr>
          <a:xfrm>
            <a:off x="7919035" y="128397"/>
            <a:ext cx="2450449" cy="855504"/>
          </a:xfrm>
          <a:prstGeom prst="borderCallout1">
            <a:avLst>
              <a:gd name="adj1" fmla="val 18750"/>
              <a:gd name="adj2" fmla="val -8333"/>
              <a:gd name="adj3" fmla="val 140375"/>
              <a:gd name="adj4" fmla="val -2269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상세분석 메뉴에 </a:t>
            </a:r>
            <a:endParaRPr lang="en-US" altLang="ko-KR" dirty="0"/>
          </a:p>
          <a:p>
            <a:pPr algn="ctr"/>
            <a:r>
              <a:rPr lang="ko-KR" altLang="en-US" dirty="0"/>
              <a:t>비교분석용 </a:t>
            </a:r>
            <a:r>
              <a:rPr lang="en-US" altLang="ko-KR" dirty="0"/>
              <a:t>‘</a:t>
            </a:r>
            <a:r>
              <a:rPr lang="ko-KR" altLang="en-US" dirty="0"/>
              <a:t>지표분석</a:t>
            </a:r>
            <a:r>
              <a:rPr lang="en-US" altLang="ko-KR" dirty="0"/>
              <a:t>’</a:t>
            </a:r>
            <a:r>
              <a:rPr lang="ko-KR" altLang="en-US" dirty="0"/>
              <a:t> 탭 추가</a:t>
            </a:r>
            <a:endParaRPr lang="en-US" altLang="ko-KR" dirty="0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4CBC0737-EE62-106A-FB51-9BA6B103D663}"/>
              </a:ext>
            </a:extLst>
          </p:cNvPr>
          <p:cNvCxnSpPr>
            <a:cxnSpLocks/>
          </p:cNvCxnSpPr>
          <p:nvPr/>
        </p:nvCxnSpPr>
        <p:spPr>
          <a:xfrm flipH="1">
            <a:off x="8138832" y="2737494"/>
            <a:ext cx="387498" cy="3836791"/>
          </a:xfrm>
          <a:prstGeom prst="lin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2521860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6c9ec09-8430-4a99-bf15-242bc089b409}" enabled="0" method="" siteId="{e6c9ec09-8430-4a99-bf15-242bc089b409}" actionId="{8d6d24df-b114-450c-b90a-08f4ccc3707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222</Words>
  <TotalTime>0</TotalTime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김성수(옥외광고사업팀)</dc:creator>
  <dcterms:modified xsi:type="dcterms:W3CDTF">2026-04-14T04:23:28Z</dcterms:modified>
  <dc:title/>
  <cp:lastPrinted>2026-04-13T07:19:26Z</cp:lastPrinted>
  <cp:lastModifiedBy>김성수(옥외광고사업팀)</cp:lastModifiedBy>
  <dcterms:created xsi:type="dcterms:W3CDTF">2026-04-13T07:18:28Z</dcterms:created>
  <cp:revision>12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367c47c-7c04-4ffb-b460-0af27cc1564d_SiteId">
    <vt:lpwstr>e6c9ec09-8430-4a99-bf15-242bc089b409</vt:lpwstr>
  </property>
  <property fmtid="{D5CDD505-2E9C-101B-9397-08002B2CF9AE}" pid="3" name="MSIP_Label_b367c47c-7c04-4ffb-b460-0af27cc1564d_SetDate">
    <vt:lpwstr>2026-04-13T09:43:04Z</vt:lpwstr>
  </property>
  <property fmtid="{D5CDD505-2E9C-101B-9397-08002B2CF9AE}" pid="4" name="MSIP_Label_b367c47c-7c04-4ffb-b460-0af27cc1564d_Name">
    <vt:lpwstr>KT</vt:lpwstr>
  </property>
  <property fmtid="{D5CDD505-2E9C-101B-9397-08002B2CF9AE}" pid="5" name="MSIP_Label_b367c47c-7c04-4ffb-b460-0af27cc1564d_Method">
    <vt:lpwstr>Privileged</vt:lpwstr>
  </property>
  <property fmtid="{D5CDD505-2E9C-101B-9397-08002B2CF9AE}" pid="6" name="MSIP_Label_b367c47c-7c04-4ffb-b460-0af27cc1564d_Enabled">
    <vt:lpwstr>true</vt:lpwstr>
  </property>
  <property fmtid="{D5CDD505-2E9C-101B-9397-08002B2CF9AE}" pid="7" name="MSIP_Label_b367c47c-7c04-4ffb-b460-0af27cc1564d_ContentBits">
    <vt:lpwstr>8</vt:lpwstr>
  </property>
</Properties>
</file>